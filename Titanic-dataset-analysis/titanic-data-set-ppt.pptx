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76" r:id="rId4"/>
    <p:sldId id="275" r:id="rId5"/>
    <p:sldId id="274" r:id="rId6"/>
    <p:sldId id="273" r:id="rId7"/>
    <p:sldId id="272" r:id="rId8"/>
    <p:sldId id="271" r:id="rId9"/>
    <p:sldId id="269" r:id="rId10"/>
    <p:sldId id="270" r:id="rId11"/>
    <p:sldId id="268" r:id="rId12"/>
    <p:sldId id="267" r:id="rId13"/>
    <p:sldId id="266" r:id="rId14"/>
    <p:sldId id="265" r:id="rId15"/>
    <p:sldId id="264" r:id="rId16"/>
    <p:sldId id="263" r:id="rId17"/>
    <p:sldId id="262" r:id="rId18"/>
    <p:sldId id="261" r:id="rId19"/>
    <p:sldId id="260" r:id="rId20"/>
    <p:sldId id="259" r:id="rId21"/>
    <p:sldId id="25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40080"/>
            <a:ext cx="9144000" cy="1150620"/>
          </a:xfrm>
        </p:spPr>
        <p:txBody>
          <a:bodyPr>
            <a:normAutofit/>
          </a:bodyPr>
          <a:lstStyle/>
          <a:p>
            <a:pPr algn="l"/>
            <a:r>
              <a:rPr lang="en-US" dirty="0"/>
              <a:t>Introduction</a:t>
            </a:r>
            <a:endParaRPr lang="en-US" dirty="0"/>
          </a:p>
        </p:txBody>
      </p:sp>
      <p:sp>
        <p:nvSpPr>
          <p:cNvPr id="3" name="Subtitle 2"/>
          <p:cNvSpPr>
            <a:spLocks noGrp="1"/>
          </p:cNvSpPr>
          <p:nvPr>
            <p:ph type="subTitle" idx="1"/>
          </p:nvPr>
        </p:nvSpPr>
        <p:spPr>
          <a:xfrm>
            <a:off x="1524000" y="1957070"/>
            <a:ext cx="9144000" cy="3300730"/>
          </a:xfrm>
        </p:spPr>
        <p:txBody>
          <a:bodyPr>
            <a:normAutofit fontScale="90000" lnSpcReduction="10000"/>
          </a:bodyPr>
          <a:lstStyle/>
          <a:p>
            <a:pPr algn="l"/>
            <a:r>
              <a:rPr lang="en-US"/>
              <a:t>Creating a model to forecast survival rates using data from the Titanic is a well-known binary classification issue. The objective is to create a model that, given a collection of input data like age, gender, and other characteristics, can properly predict whether a certain passenger will survive or not.</a:t>
            </a:r>
            <a:endParaRPr lang="en-US"/>
          </a:p>
          <a:p>
            <a:pPr algn="l"/>
            <a:r>
              <a:rPr lang="en-US"/>
              <a:t>When tackling a challenge like this, we usually start by performing exploratory data analysis to better understand the dataset and find any patterns or connections between the various attributes and the goal variable (in this case, survival). Depending on the requirements of the machine learning technique we intend to apply, we might additionally need to clean and preprocess the data, filling in missing values, encoding categorical variables, and scaling numerical features.</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The titanic dataset</a:t>
            </a:r>
            <a:endParaRPr lang="en-US"/>
          </a:p>
        </p:txBody>
      </p:sp>
      <p:sp>
        <p:nvSpPr>
          <p:cNvPr id="3" name="Content Placeholder 2"/>
          <p:cNvSpPr>
            <a:spLocks noGrp="1"/>
          </p:cNvSpPr>
          <p:nvPr>
            <p:ph idx="1"/>
          </p:nvPr>
        </p:nvSpPr>
        <p:spPr/>
        <p:txBody>
          <a:bodyPr>
            <a:normAutofit fontScale="90000" lnSpcReduction="10000"/>
          </a:bodyPr>
          <a:p>
            <a:pPr marL="0" indent="0">
              <a:buNone/>
            </a:pPr>
            <a:r>
              <a:rPr lang="en-US"/>
              <a:t>A well-known dataset called the Titanic dataset contains details about the people who traveled on the Titanic during its tragic maiden voyage, which perished on April 15, 1912, after colliding with an iceberg in the North Atlantic Ocean. Each passenger's numerous characteristics, including age, gender, passenger class, fare paid, cabin number, port of embarkation, and whether or not they survived the accident, are included in the dataset.</a:t>
            </a:r>
            <a:endParaRPr lang="en-US"/>
          </a:p>
          <a:p>
            <a:pPr marL="0" indent="0">
              <a:buNone/>
            </a:pPr>
            <a:r>
              <a:rPr lang="en-US"/>
              <a:t>With the help of these characteristics, you may learn a wealth of details on each passenger, such as their socioeconomic status, family structure, and demographics. They can be used to investigate trends and connections between various variables and to create survival predictions for the event.</a:t>
            </a:r>
            <a:endParaRPr lang="en-US"/>
          </a:p>
          <a:p>
            <a:pPr marL="0" indent="0">
              <a:buNone/>
            </a:pPr>
            <a:r>
              <a:rPr lang="en-US"/>
              <a:t>For training, testing, and forecasting purposes, there are two datasets: the train dataset and the test dataset.</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Analytical objectives</a:t>
            </a:r>
            <a:endParaRPr lang="en-US"/>
          </a:p>
        </p:txBody>
      </p:sp>
      <p:sp>
        <p:nvSpPr>
          <p:cNvPr id="3" name="Content Placeholder 2"/>
          <p:cNvSpPr>
            <a:spLocks noGrp="1"/>
          </p:cNvSpPr>
          <p:nvPr>
            <p:ph idx="1"/>
          </p:nvPr>
        </p:nvSpPr>
        <p:spPr/>
        <p:txBody>
          <a:bodyPr/>
          <a:p>
            <a:pPr marL="0" indent="0">
              <a:buNone/>
            </a:pPr>
            <a:r>
              <a:rPr lang="en-US"/>
              <a:t>The objective of this project is to understand the factors that contribute to the survival of the Titanic accident and to build a model in Alteryx to estimate the survival probability of passengers. In more detail we will:</a:t>
            </a:r>
            <a:endParaRPr lang="en-US"/>
          </a:p>
          <a:p>
            <a:pPr marL="0" indent="0">
              <a:buNone/>
            </a:pPr>
            <a:r>
              <a:rPr lang="en-US"/>
              <a:t>i.Perform data cleaning and validation techniques to prepare data for analysis.</a:t>
            </a:r>
            <a:endParaRPr lang="en-US"/>
          </a:p>
          <a:p>
            <a:pPr marL="0" indent="0">
              <a:buNone/>
            </a:pPr>
            <a:r>
              <a:rPr lang="en-US"/>
              <a:t>ii.Analyse resulting dataset to discover correlations between features and compare different passenger groups.</a:t>
            </a:r>
            <a:endParaRPr lang="en-US"/>
          </a:p>
          <a:p>
            <a:pPr marL="0" indent="0">
              <a:buNone/>
            </a:pPr>
            <a:r>
              <a:rPr lang="en-US"/>
              <a:t>iii.Build a model to estimate survival probability of Titanic passengers.</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Entity Relationship Diagram</a:t>
            </a:r>
            <a:endParaRPr lang="en-US"/>
          </a:p>
        </p:txBody>
      </p:sp>
      <p:pic>
        <p:nvPicPr>
          <p:cNvPr id="4" name="Picture 3" descr="erd1"/>
          <p:cNvPicPr>
            <a:picLocks noChangeAspect="1"/>
          </p:cNvPicPr>
          <p:nvPr>
            <p:ph idx="1"/>
          </p:nvPr>
        </p:nvPicPr>
        <p:blipFill>
          <a:blip r:embed="rId1"/>
          <a:stretch>
            <a:fillRect/>
          </a:stretch>
        </p:blipFill>
        <p:spPr>
          <a:xfrm>
            <a:off x="1120140" y="1569720"/>
            <a:ext cx="9482455" cy="50901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sym typeface="+mn-ea"/>
              </a:rPr>
              <a:t>Entity Relationship Diagram</a:t>
            </a:r>
            <a:br>
              <a:rPr lang="en-US"/>
            </a:br>
            <a:endParaRPr lang="en-US"/>
          </a:p>
        </p:txBody>
      </p:sp>
      <p:pic>
        <p:nvPicPr>
          <p:cNvPr id="4" name="Picture 4" descr="erd2"/>
          <p:cNvPicPr>
            <a:picLocks noChangeAspect="1"/>
          </p:cNvPicPr>
          <p:nvPr>
            <p:ph idx="1"/>
          </p:nvPr>
        </p:nvPicPr>
        <p:blipFill>
          <a:blip r:embed="rId1"/>
          <a:stretch>
            <a:fillRect/>
          </a:stretch>
        </p:blipFill>
        <p:spPr>
          <a:xfrm>
            <a:off x="1076960" y="1690370"/>
            <a:ext cx="8528685" cy="433895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sym typeface="+mn-ea"/>
              </a:rPr>
              <a:t>Entity Relationship Diagram</a:t>
            </a:r>
            <a:br>
              <a:rPr lang="en-US"/>
            </a:br>
            <a:endParaRPr lang="en-US"/>
          </a:p>
        </p:txBody>
      </p:sp>
      <p:pic>
        <p:nvPicPr>
          <p:cNvPr id="5" name="Picture 5" descr="erd3"/>
          <p:cNvPicPr>
            <a:picLocks noChangeAspect="1"/>
          </p:cNvPicPr>
          <p:nvPr>
            <p:ph idx="1"/>
          </p:nvPr>
        </p:nvPicPr>
        <p:blipFill>
          <a:blip r:embed="rId1"/>
          <a:stretch>
            <a:fillRect/>
          </a:stretch>
        </p:blipFill>
        <p:spPr>
          <a:xfrm>
            <a:off x="613410" y="1177290"/>
            <a:ext cx="8761095" cy="49999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sym typeface="+mn-ea"/>
              </a:rPr>
              <a:t>Entity Relationship Diagram</a:t>
            </a:r>
            <a:endParaRPr lang="en-US"/>
          </a:p>
        </p:txBody>
      </p:sp>
      <p:sp>
        <p:nvSpPr>
          <p:cNvPr id="3" name="Content Placeholder 2"/>
          <p:cNvSpPr>
            <a:spLocks noGrp="1"/>
          </p:cNvSpPr>
          <p:nvPr>
            <p:ph idx="1"/>
          </p:nvPr>
        </p:nvSpPr>
        <p:spPr>
          <a:xfrm>
            <a:off x="838200" y="1297305"/>
            <a:ext cx="10515600" cy="5346700"/>
          </a:xfrm>
        </p:spPr>
        <p:txBody>
          <a:bodyPr>
            <a:normAutofit fontScale="60000"/>
          </a:bodyPr>
          <a:p>
            <a:pPr marL="0" indent="0">
              <a:buNone/>
            </a:pPr>
            <a:r>
              <a:rPr lang="en-US" sz="3000"/>
              <a:t>In the Titanic dataset, the main entity is the passenger, and the attributes (or columns) represent different aspects of each passenger, such as their age, gender, passenger class, and survival status. The following is an example of how some of the attributes in the Titanic dataset might be related in an ERD:</a:t>
            </a:r>
            <a:endParaRPr lang="en-US" sz="3000"/>
          </a:p>
          <a:p>
            <a:pPr marL="0" indent="0">
              <a:buNone/>
            </a:pPr>
            <a:r>
              <a:rPr lang="en-US" sz="3000"/>
              <a:t>Passenger entity: This would be the main entity in the ERD, representing each individual passenger in the                 dataset.</a:t>
            </a:r>
            <a:endParaRPr lang="en-US" sz="3000"/>
          </a:p>
          <a:p>
            <a:pPr marL="0" indent="0">
              <a:buNone/>
            </a:pPr>
            <a:r>
              <a:rPr lang="en-US" sz="3000"/>
              <a:t>Age attribute: This attribute would be a simple attribute of the Passenger entity, indicating the age of each     passenger.</a:t>
            </a:r>
            <a:endParaRPr lang="en-US" sz="3000"/>
          </a:p>
          <a:p>
            <a:pPr marL="0" indent="0">
              <a:buNone/>
            </a:pPr>
            <a:r>
              <a:rPr lang="en-US" sz="3000"/>
              <a:t>Gender attribute: This attribute would also be a simple attribute of the Passenger entity, indicating the gender of each passenger.</a:t>
            </a:r>
            <a:endParaRPr lang="en-US" sz="3000"/>
          </a:p>
          <a:p>
            <a:pPr marL="0" indent="0">
              <a:buNone/>
            </a:pPr>
            <a:r>
              <a:rPr lang="en-US" sz="3000"/>
              <a:t>Passenger class attribute: This attribute would also be a simple attribute of the Passenger entity, indicating the passenger class of each passenger.</a:t>
            </a:r>
            <a:endParaRPr lang="en-US" sz="3000"/>
          </a:p>
          <a:p>
            <a:pPr marL="0" indent="0">
              <a:buNone/>
            </a:pPr>
            <a:r>
              <a:rPr lang="en-US" sz="3000"/>
              <a:t>Survived attribute: This attribute would be a simple attribute of the Passenger entity, indicating whether each passenger survived or not.</a:t>
            </a:r>
            <a:endParaRPr lang="en-US" sz="3000"/>
          </a:p>
          <a:p>
            <a:pPr marL="0" indent="0">
              <a:buNone/>
            </a:pPr>
            <a:r>
              <a:rPr lang="en-US" sz="3000"/>
              <a:t>Siblings/Spouses attribute: This attribute would be a relationship attribute, indicating the number of siblings and/or spouses that each passenger was traveling with.</a:t>
            </a:r>
            <a:endParaRPr lang="en-US" sz="3000"/>
          </a:p>
          <a:p>
            <a:pPr marL="0" indent="0">
              <a:buNone/>
            </a:pPr>
            <a:r>
              <a:rPr lang="en-US" sz="3000"/>
              <a:t>Parents/Children attribute: This attribute would also be a relationship attribute, indicating the number of parents and/or children that each passenger was traveling with.</a:t>
            </a:r>
            <a:endParaRPr lang="en-US" sz="3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sym typeface="+mn-ea"/>
              </a:rPr>
              <a:t>Workflow</a:t>
            </a:r>
            <a:br>
              <a:rPr lang="en-US"/>
            </a:br>
            <a:r>
              <a:rPr lang="en-US" sz="2665"/>
              <a:t>Starter</a:t>
            </a:r>
            <a:endParaRPr lang="en-US" sz="2665"/>
          </a:p>
        </p:txBody>
      </p:sp>
      <p:pic>
        <p:nvPicPr>
          <p:cNvPr id="24" name="Picture 24" descr="Screenshot (461)"/>
          <p:cNvPicPr>
            <a:picLocks noChangeAspect="1"/>
          </p:cNvPicPr>
          <p:nvPr>
            <p:ph idx="1"/>
          </p:nvPr>
        </p:nvPicPr>
        <p:blipFill>
          <a:blip r:embed="rId1"/>
          <a:srcRect l="1350" t="26382" r="3025" b="13909"/>
          <a:stretch>
            <a:fillRect/>
          </a:stretch>
        </p:blipFill>
        <p:spPr>
          <a:xfrm>
            <a:off x="838835" y="1825625"/>
            <a:ext cx="9126220" cy="43516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t>Workflow</a:t>
            </a:r>
            <a:br>
              <a:rPr lang="en-US"/>
            </a:br>
            <a:r>
              <a:rPr lang="en-US" sz="2665"/>
              <a:t>Classification</a:t>
            </a:r>
            <a:br>
              <a:rPr lang="en-US"/>
            </a:br>
            <a:endParaRPr lang="en-US"/>
          </a:p>
        </p:txBody>
      </p:sp>
      <p:pic>
        <p:nvPicPr>
          <p:cNvPr id="22" name="Picture 22" descr="Screenshot (459)"/>
          <p:cNvPicPr>
            <a:picLocks noChangeAspect="1"/>
          </p:cNvPicPr>
          <p:nvPr>
            <p:ph idx="1"/>
          </p:nvPr>
        </p:nvPicPr>
        <p:blipFill>
          <a:blip r:embed="rId1"/>
          <a:srcRect l="627" t="22996" r="20378" b="10459"/>
          <a:stretch>
            <a:fillRect/>
          </a:stretch>
        </p:blipFill>
        <p:spPr>
          <a:xfrm>
            <a:off x="1034415" y="1825625"/>
            <a:ext cx="8930640" cy="435165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sym typeface="+mn-ea"/>
              </a:rPr>
              <a:t>Workflow</a:t>
            </a:r>
            <a:br>
              <a:rPr lang="en-US">
                <a:sym typeface="+mn-ea"/>
              </a:rPr>
            </a:br>
            <a:r>
              <a:rPr lang="en-US" sz="2665">
                <a:sym typeface="+mn-ea"/>
              </a:rPr>
              <a:t>Regression</a:t>
            </a:r>
            <a:br>
              <a:rPr lang="en-US"/>
            </a:br>
            <a:endParaRPr lang="en-US"/>
          </a:p>
        </p:txBody>
      </p:sp>
      <p:pic>
        <p:nvPicPr>
          <p:cNvPr id="23" name="Picture 23" descr="Screenshot (460)"/>
          <p:cNvPicPr>
            <a:picLocks noChangeAspect="1"/>
          </p:cNvPicPr>
          <p:nvPr>
            <p:ph idx="1"/>
          </p:nvPr>
        </p:nvPicPr>
        <p:blipFill>
          <a:blip r:embed="rId1"/>
          <a:srcRect l="3784" t="21775" r="27440" b="10094"/>
          <a:stretch>
            <a:fillRect/>
          </a:stretch>
        </p:blipFill>
        <p:spPr>
          <a:xfrm>
            <a:off x="1169670" y="1313180"/>
            <a:ext cx="8795385" cy="48641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873125"/>
          </a:xfrm>
        </p:spPr>
        <p:txBody>
          <a:bodyPr/>
          <a:p>
            <a:r>
              <a:rPr lang="en-US"/>
              <a:t>Workflow description</a:t>
            </a:r>
            <a:endParaRPr lang="en-US"/>
          </a:p>
        </p:txBody>
      </p:sp>
      <p:sp>
        <p:nvSpPr>
          <p:cNvPr id="3" name="Content Placeholder 2"/>
          <p:cNvSpPr>
            <a:spLocks noGrp="1"/>
          </p:cNvSpPr>
          <p:nvPr>
            <p:ph idx="1"/>
          </p:nvPr>
        </p:nvSpPr>
        <p:spPr>
          <a:xfrm>
            <a:off x="838200" y="1238250"/>
            <a:ext cx="10515600" cy="5346065"/>
          </a:xfrm>
        </p:spPr>
        <p:txBody>
          <a:bodyPr>
            <a:normAutofit fontScale="60000"/>
          </a:bodyPr>
          <a:p>
            <a:pPr marL="0" indent="0">
              <a:buNone/>
            </a:pPr>
            <a:r>
              <a:rPr lang="en-US" sz="3000"/>
              <a:t>To do data processing, cleaning, and blending in Alteryx using the Titanic dataset, the following  steps were followed:</a:t>
            </a:r>
            <a:endParaRPr lang="en-US" sz="3000"/>
          </a:p>
          <a:p>
            <a:pPr marL="0" indent="0">
              <a:buNone/>
            </a:pPr>
            <a:r>
              <a:rPr lang="en-US" sz="3000"/>
              <a:t>Open Alteryx Designer and create a new workflow.</a:t>
            </a:r>
            <a:endParaRPr lang="en-US" sz="3000"/>
          </a:p>
          <a:p>
            <a:pPr marL="0" indent="0">
              <a:buNone/>
            </a:pPr>
            <a:r>
              <a:rPr lang="en-US" sz="3000"/>
              <a:t>Add a "Input Data" tool to your workflow and select the Titanic dataset as your data source. The Titanic dataset is commonly available in CSV format.</a:t>
            </a:r>
            <a:endParaRPr lang="en-US" sz="3000"/>
          </a:p>
          <a:p>
            <a:pPr marL="0" indent="0">
              <a:buNone/>
            </a:pPr>
            <a:r>
              <a:rPr lang="en-US" sz="3000"/>
              <a:t>Add a "Data Cleansing" tool to your workflow. This tool will help you clean and filter your data by removing missing values, duplicates, and other irrelevant data. Configure the tool to remove any missing or null values, as well as any columns that are not relevant to your analysis.</a:t>
            </a:r>
            <a:endParaRPr lang="en-US" sz="3000"/>
          </a:p>
          <a:p>
            <a:pPr marL="0" indent="0">
              <a:buNone/>
            </a:pPr>
            <a:r>
              <a:rPr lang="en-US" sz="3000"/>
              <a:t>Add a "Data Preparation" tool to your workflow. This tool allows you to transform your data by creating new fields, changing data types, or applying functions to your data. Use this tool to convert any text fields to numeric, and create new features from the existing data, such as age range or family size.</a:t>
            </a:r>
            <a:endParaRPr lang="en-US" sz="3000"/>
          </a:p>
          <a:p>
            <a:pPr marL="0" indent="0">
              <a:buNone/>
            </a:pPr>
            <a:r>
              <a:rPr lang="en-US" sz="3000"/>
              <a:t>Add a "Join" tool to your workflow if you have other datasets you want to blend with the Titanic dataset. This tool will allow you to combine different datasets based on common fields, such as passenger ID or name.</a:t>
            </a:r>
            <a:endParaRPr lang="en-US" sz="3000"/>
          </a:p>
          <a:p>
            <a:pPr marL="0" indent="0">
              <a:buNone/>
            </a:pPr>
            <a:r>
              <a:rPr lang="en-US" sz="3000"/>
              <a:t>Add a "Output Data" tool to your workflow and select a location to save your cleaned and blended data. You can save your data in various formats, such as CSV or Excel.</a:t>
            </a:r>
            <a:endParaRPr lang="en-US" sz="3000"/>
          </a:p>
          <a:p>
            <a:pPr marL="0" indent="0">
              <a:buNone/>
            </a:pPr>
            <a:r>
              <a:rPr lang="en-US" sz="3000"/>
              <a:t>Once your workflow is complete, run it to process and clean your data. You can then use the output data for further analysis or modeling.</a:t>
            </a:r>
            <a:endParaRPr lang="en-US" sz="3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t>Tableau Visualizations</a:t>
            </a:r>
            <a:br>
              <a:rPr lang="en-US"/>
            </a:br>
            <a:r>
              <a:rPr lang="en-US" sz="2665"/>
              <a:t>Overall data</a:t>
            </a:r>
            <a:endParaRPr lang="en-US" sz="2665"/>
          </a:p>
        </p:txBody>
      </p:sp>
      <p:pic>
        <p:nvPicPr>
          <p:cNvPr id="13" name="Picture 13" descr="tab1"/>
          <p:cNvPicPr>
            <a:picLocks noChangeAspect="1"/>
          </p:cNvPicPr>
          <p:nvPr>
            <p:ph idx="1"/>
          </p:nvPr>
        </p:nvPicPr>
        <p:blipFill>
          <a:blip r:embed="rId1"/>
          <a:stretch>
            <a:fillRect/>
          </a:stretch>
        </p:blipFill>
        <p:spPr>
          <a:xfrm>
            <a:off x="928370" y="1825625"/>
            <a:ext cx="9036685" cy="435165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sym typeface="+mn-ea"/>
              </a:rPr>
              <a:t>Tableau Visualizations</a:t>
            </a:r>
            <a:br>
              <a:rPr lang="en-US">
                <a:sym typeface="+mn-ea"/>
              </a:rPr>
            </a:br>
            <a:r>
              <a:rPr lang="en-US" sz="3110">
                <a:sym typeface="+mn-ea"/>
              </a:rPr>
              <a:t>Distribution of passengers by gender</a:t>
            </a:r>
            <a:br>
              <a:rPr lang="en-US"/>
            </a:br>
            <a:endParaRPr lang="en-US"/>
          </a:p>
        </p:txBody>
      </p:sp>
      <p:pic>
        <p:nvPicPr>
          <p:cNvPr id="14" name="Picture 14" descr="tab2"/>
          <p:cNvPicPr>
            <a:picLocks noChangeAspect="1"/>
          </p:cNvPicPr>
          <p:nvPr>
            <p:ph idx="1"/>
          </p:nvPr>
        </p:nvPicPr>
        <p:blipFill>
          <a:blip r:embed="rId1"/>
          <a:stretch>
            <a:fillRect/>
          </a:stretch>
        </p:blipFill>
        <p:spPr>
          <a:xfrm>
            <a:off x="1147445" y="1825625"/>
            <a:ext cx="9895840" cy="435165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sym typeface="+mn-ea"/>
              </a:rPr>
              <a:t>Tableau Visualizations</a:t>
            </a:r>
            <a:br>
              <a:rPr lang="en-US"/>
            </a:br>
            <a:r>
              <a:rPr lang="en-US" sz="2800"/>
              <a:t>Distribution of passengers according to class</a:t>
            </a:r>
            <a:endParaRPr lang="en-US" sz="2800"/>
          </a:p>
        </p:txBody>
      </p:sp>
      <p:pic>
        <p:nvPicPr>
          <p:cNvPr id="15" name="Picture 15" descr="tab3"/>
          <p:cNvPicPr>
            <a:picLocks noChangeAspect="1"/>
          </p:cNvPicPr>
          <p:nvPr>
            <p:ph idx="1"/>
          </p:nvPr>
        </p:nvPicPr>
        <p:blipFill>
          <a:blip r:embed="rId1"/>
          <a:stretch>
            <a:fillRect/>
          </a:stretch>
        </p:blipFill>
        <p:spPr>
          <a:xfrm>
            <a:off x="1040130" y="1825625"/>
            <a:ext cx="10111105" cy="435165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t>Tableau Visualizations</a:t>
            </a:r>
            <a:br>
              <a:rPr lang="en-US"/>
            </a:br>
            <a:r>
              <a:rPr lang="en-US" sz="2665"/>
              <a:t>Classwise survival rate</a:t>
            </a:r>
            <a:endParaRPr lang="en-US" sz="2665"/>
          </a:p>
        </p:txBody>
      </p:sp>
      <p:pic>
        <p:nvPicPr>
          <p:cNvPr id="17" name="Picture 17" descr="tab5"/>
          <p:cNvPicPr>
            <a:picLocks noChangeAspect="1"/>
          </p:cNvPicPr>
          <p:nvPr>
            <p:ph idx="1"/>
          </p:nvPr>
        </p:nvPicPr>
        <p:blipFill>
          <a:blip r:embed="rId1"/>
          <a:stretch>
            <a:fillRect/>
          </a:stretch>
        </p:blipFill>
        <p:spPr>
          <a:xfrm>
            <a:off x="838200" y="1825625"/>
            <a:ext cx="10342880" cy="435165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Mongodb aggregate functions</a:t>
            </a:r>
            <a:endParaRPr lang="en-US"/>
          </a:p>
        </p:txBody>
      </p:sp>
      <p:sp>
        <p:nvSpPr>
          <p:cNvPr id="3" name="Content Placeholder 2"/>
          <p:cNvSpPr>
            <a:spLocks noGrp="1"/>
          </p:cNvSpPr>
          <p:nvPr>
            <p:ph idx="1"/>
          </p:nvPr>
        </p:nvSpPr>
        <p:spPr/>
        <p:txBody>
          <a:bodyPr>
            <a:normAutofit fontScale="70000"/>
          </a:bodyPr>
          <a:p>
            <a:pPr marL="0" indent="0">
              <a:buNone/>
            </a:pPr>
            <a:r>
              <a:rPr lang="en-US"/>
              <a:t>To demonstrate how MongoDB can be used to perform aggregate operations on the Titanic dataset, let's design some analytical targets and write some queries to achieve them:</a:t>
            </a:r>
            <a:endParaRPr lang="en-US"/>
          </a:p>
          <a:p>
            <a:pPr marL="0" indent="0">
              <a:buNone/>
            </a:pPr>
            <a:r>
              <a:rPr lang="en-US"/>
              <a:t>Calculate the total number of passengers in each passenger class:</a:t>
            </a:r>
            <a:endParaRPr lang="en-US"/>
          </a:p>
          <a:p>
            <a:pPr marL="0" indent="0">
              <a:buNone/>
            </a:pPr>
            <a:r>
              <a:rPr lang="en-US"/>
              <a:t>db.titanic.aggregate([ {$group: {_id: "$Pclass", count: {$sum: 1}}} ])</a:t>
            </a:r>
            <a:endParaRPr lang="en-US"/>
          </a:p>
          <a:p>
            <a:pPr marL="0" indent="0">
              <a:buNone/>
            </a:pPr>
            <a:r>
              <a:rPr lang="en-US"/>
              <a:t>This query groups the data by Pclass and calculates the total count of passengers in each class.</a:t>
            </a:r>
            <a:endParaRPr lang="en-US"/>
          </a:p>
          <a:p>
            <a:pPr marL="0" indent="0">
              <a:buNone/>
            </a:pPr>
            <a:endParaRPr lang="en-US"/>
          </a:p>
          <a:p>
            <a:pPr marL="0" indent="0">
              <a:buNone/>
            </a:pPr>
            <a:r>
              <a:rPr lang="en-US"/>
              <a:t>Calculate the survival rate of passengers by gender:</a:t>
            </a:r>
            <a:endParaRPr lang="en-US"/>
          </a:p>
          <a:p>
            <a:pPr marL="0" indent="0">
              <a:buNone/>
            </a:pPr>
            <a:r>
              <a:rPr lang="en-US"/>
              <a:t>db.titanic.aggregate([ {$group: {_id: "$Sex", total: {$sum: 1}, survived: {$sum: "$Survived"} }}, {$project: {survival_rate: {$divide: ["$survived", "$total"]}}} ])</a:t>
            </a:r>
            <a:endParaRPr lang="en-US"/>
          </a:p>
          <a:p>
            <a:pPr marL="0" indent="0">
              <a:buNone/>
            </a:pPr>
            <a:r>
              <a:rPr lang="en-US"/>
              <a:t>This query groups the data by Sex, calculates the total count of passengers and the count of passengers who survived for each gender, and then calculates the survival rate by dividing the count of survivors by the total count of passengers.</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sym typeface="+mn-ea"/>
              </a:rPr>
              <a:t>Mongodb aggregate functions</a:t>
            </a:r>
            <a:br>
              <a:rPr lang="en-US"/>
            </a:br>
            <a:endParaRPr lang="en-US"/>
          </a:p>
        </p:txBody>
      </p:sp>
      <p:sp>
        <p:nvSpPr>
          <p:cNvPr id="3" name="Content Placeholder 2"/>
          <p:cNvSpPr>
            <a:spLocks noGrp="1"/>
          </p:cNvSpPr>
          <p:nvPr>
            <p:ph idx="1"/>
          </p:nvPr>
        </p:nvSpPr>
        <p:spPr/>
        <p:txBody>
          <a:bodyPr>
            <a:normAutofit fontScale="80000"/>
          </a:bodyPr>
          <a:p>
            <a:pPr marL="0" indent="0">
              <a:buNone/>
            </a:pPr>
            <a:r>
              <a:rPr lang="en-US"/>
              <a:t>Calculate the average age of passengers who survived vs. those who did not </a:t>
            </a:r>
            <a:endParaRPr lang="en-US"/>
          </a:p>
          <a:p>
            <a:pPr marL="0" indent="0">
              <a:buNone/>
            </a:pPr>
            <a:r>
              <a:rPr lang="en-US"/>
              <a:t>db.titanic.aggregate([ {$group: {_id: "$Survived", avg_age: {$avg: "$Age"} }} ])</a:t>
            </a:r>
            <a:endParaRPr lang="en-US"/>
          </a:p>
          <a:p>
            <a:pPr marL="0" indent="0">
              <a:buNone/>
            </a:pPr>
            <a:r>
              <a:rPr lang="en-US"/>
              <a:t>This query groups the data by Survived and calculates the average age of passengers for each group.</a:t>
            </a:r>
            <a:endParaRPr lang="en-US"/>
          </a:p>
          <a:p>
            <a:pPr marL="0" indent="0">
              <a:buNone/>
            </a:pPr>
            <a:endParaRPr lang="en-US"/>
          </a:p>
          <a:p>
            <a:pPr marL="0" indent="0">
              <a:buNone/>
            </a:pPr>
            <a:r>
              <a:rPr lang="en-US"/>
              <a:t>Calculate the top 5 most common surnames among passengers:</a:t>
            </a:r>
            <a:endParaRPr lang="en-US"/>
          </a:p>
          <a:p>
            <a:pPr marL="0" indent="0">
              <a:buNone/>
            </a:pPr>
            <a:r>
              <a:rPr lang="en-US"/>
              <a:t>db.titanic.aggregate([ {$project: {surname: {$arrayElemAt: [{$split: ["$Name", " "]}, -1]}}}, {$group: {_id: "$surname", count: {$sum: 1}}}, {$sort: {count: -1}}, {$limit: 5} ])</a:t>
            </a:r>
            <a:endParaRPr lang="en-US"/>
          </a:p>
          <a:p>
            <a:pPr marL="0" indent="0">
              <a:buNone/>
            </a:pPr>
            <a:r>
              <a:rPr lang="en-US"/>
              <a:t>This query extracts the surname from the Name field using the $split operator, groups the data by surname, calculates the count of passengers for each surname, sorts the results by count in descending order, and returns the top 5 most common surnames.</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Conclusion</a:t>
            </a:r>
            <a:endParaRPr lang="en-US"/>
          </a:p>
        </p:txBody>
      </p:sp>
      <p:sp>
        <p:nvSpPr>
          <p:cNvPr id="3" name="Content Placeholder 2"/>
          <p:cNvSpPr>
            <a:spLocks noGrp="1"/>
          </p:cNvSpPr>
          <p:nvPr>
            <p:ph idx="1"/>
          </p:nvPr>
        </p:nvSpPr>
        <p:spPr/>
        <p:txBody>
          <a:bodyPr>
            <a:normAutofit fontScale="80000"/>
          </a:bodyPr>
          <a:p>
            <a:pPr marL="0" indent="0">
              <a:buNone/>
            </a:pPr>
            <a:r>
              <a:rPr lang="en-US"/>
              <a:t>In this report we have explored the association of the different attributes with the survival chance of passengers of the Titanic using the dataset from the Kaggle which has helped in building logistic regression models to predict the class for unseen data.</a:t>
            </a:r>
            <a:endParaRPr lang="en-US"/>
          </a:p>
          <a:p>
            <a:pPr marL="0" indent="0">
              <a:buNone/>
            </a:pPr>
            <a:r>
              <a:rPr lang="en-US"/>
              <a:t>Our analysis determine that all variables except Age, SibSp and FamilySize are significantly associated with Survived at a 95% confidence level although the strength of such association is not very strong. Furthermore, the model that uses the attributes Pclass, Sex, Parch, Embarked and Title as regressors has been the chosen model to predict with according to resulting AIC values amongst the tested models.</a:t>
            </a:r>
            <a:endParaRPr lang="en-US"/>
          </a:p>
          <a:p>
            <a:pPr marL="0" indent="0">
              <a:buNone/>
            </a:pPr>
            <a:r>
              <a:rPr lang="en-US"/>
              <a:t>This model allows us to explore the relationships between regressors and the target attribute as well as predict probability of survival for passengers. In particular we have determined that lower classes, large families, passengers with a title of Mr or Other and passengers who embarked at Southampton have a significantly lower chance of survival, according to the coefficients from the regression model that turned out to be signifificant.</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References</a:t>
            </a:r>
            <a:endParaRPr lang="en-US"/>
          </a:p>
        </p:txBody>
      </p:sp>
      <p:sp>
        <p:nvSpPr>
          <p:cNvPr id="3" name="Content Placeholder 2"/>
          <p:cNvSpPr>
            <a:spLocks noGrp="1"/>
          </p:cNvSpPr>
          <p:nvPr>
            <p:ph idx="1"/>
          </p:nvPr>
        </p:nvSpPr>
        <p:spPr/>
        <p:txBody>
          <a:bodyPr>
            <a:normAutofit fontScale="70000"/>
          </a:bodyPr>
          <a:p>
            <a:pPr marL="0" indent="0">
              <a:buNone/>
            </a:pPr>
            <a:r>
              <a:rPr lang="en-US"/>
              <a:t>Peter Dalgaard (2008). Introductory statistics with R. Springer Science &amp; Business Media.</a:t>
            </a:r>
            <a:endParaRPr lang="en-US"/>
          </a:p>
          <a:p>
            <a:pPr marL="0" indent="0">
              <a:buNone/>
            </a:pPr>
            <a:r>
              <a:rPr lang="en-US"/>
              <a:t>Jiawei Han, Micheine Kamber, Jian Pei (2012). Data mining: concepts and techniques. Morgan</a:t>
            </a:r>
            <a:endParaRPr lang="en-US"/>
          </a:p>
          <a:p>
            <a:pPr marL="0" indent="0">
              <a:buNone/>
            </a:pPr>
            <a:r>
              <a:rPr lang="en-US"/>
              <a:t>Kaufmann. Chapter 3.</a:t>
            </a:r>
            <a:endParaRPr lang="en-US"/>
          </a:p>
          <a:p>
            <a:pPr marL="0" indent="0">
              <a:buNone/>
            </a:pPr>
            <a:r>
              <a:rPr lang="en-US"/>
              <a:t>Jason W. Osborne (2010). Data Cleaning Basics: Best Practices in Dealing with Extreme Scores.</a:t>
            </a:r>
            <a:endParaRPr lang="en-US"/>
          </a:p>
          <a:p>
            <a:pPr marL="0" indent="0">
              <a:buNone/>
            </a:pPr>
            <a:r>
              <a:rPr lang="en-US"/>
              <a:t>Newborn and Infant Nursing Reviews; 10 (1): pp. 1527-3369.</a:t>
            </a:r>
            <a:endParaRPr lang="en-US"/>
          </a:p>
          <a:p>
            <a:pPr marL="0" indent="0">
              <a:buNone/>
            </a:pPr>
            <a:r>
              <a:rPr lang="en-US"/>
              <a:t>Pandya, D., Srivastava, A., Doherty, A., Sundareshwar, S., Needham, C., Chaudry, A., &amp; KrishnaIyer, S. (2018, April). Increasing production efficiency via compressor failure predictive analytics using machine learning. In Offshore Technology Conference. OnePetro.</a:t>
            </a:r>
            <a:endParaRPr lang="en-US"/>
          </a:p>
          <a:p>
            <a:pPr marL="0" indent="0">
              <a:buNone/>
            </a:pPr>
            <a:r>
              <a:rPr lang="en-US"/>
              <a:t>Batt, S., Grealis, T., Harmon, O., &amp; Tomolonis, P. (2020). Learning Tableau: A data visualization tool. The Journal of Economic Education, 51(3-4), 317-328.</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olidFill>
                  <a:schemeClr val="accent1">
                    <a:lumMod val="75000"/>
                  </a:schemeClr>
                </a:solidFill>
              </a:rPr>
              <a:t>**Thank for listening to my presentation**</a:t>
            </a:r>
            <a:endParaRPr lang="en-US">
              <a:solidFill>
                <a:schemeClr val="accent1">
                  <a:lumMod val="75000"/>
                </a:schemeClr>
              </a:solidFill>
            </a:endParaRPr>
          </a:p>
        </p:txBody>
      </p:sp>
      <p:sp>
        <p:nvSpPr>
          <p:cNvPr id="3" name="Content Placeholder 2"/>
          <p:cNvSpPr>
            <a:spLocks noGrp="1"/>
          </p:cNvSpPr>
          <p:nvPr>
            <p:ph idx="1"/>
          </p:nvPr>
        </p:nvSpPr>
        <p:spPr/>
        <p:txBody>
          <a:bodyPr/>
          <a:p>
            <a:pPr marL="0" indent="0" algn="ctr">
              <a:buNone/>
            </a:pPr>
            <a:r>
              <a:rPr lang="en-US" sz="7200">
                <a:solidFill>
                  <a:srgbClr val="FF0000"/>
                </a:solidFill>
              </a:rPr>
              <a:t>**THE END**</a:t>
            </a:r>
            <a:endParaRPr lang="en-US" sz="7200">
              <a:solidFill>
                <a:srgbClr val="FF000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8921</Words>
  <Application>WPS Slides</Application>
  <PresentationFormat>Widescreen</PresentationFormat>
  <Paragraphs>101</Paragraphs>
  <Slides>20</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20</vt:i4>
      </vt:variant>
    </vt:vector>
  </HeadingPairs>
  <TitlesOfParts>
    <vt:vector size="28" baseType="lpstr">
      <vt:lpstr>Arial</vt:lpstr>
      <vt:lpstr>SimSun</vt:lpstr>
      <vt:lpstr>Wingdings</vt:lpstr>
      <vt:lpstr>Calibri Light</vt:lpstr>
      <vt:lpstr>Calibri</vt:lpstr>
      <vt:lpstr>Microsoft YaHei</vt:lpstr>
      <vt:lpstr>Arial Unicode MS</vt:lpstr>
      <vt:lpstr>Office Theme</vt:lpstr>
      <vt:lpstr>Introduction</vt:lpstr>
      <vt:lpstr>The titanic dataset</vt:lpstr>
      <vt:lpstr>Analytical objectives</vt:lpstr>
      <vt:lpstr>Entity Relationship Diagram</vt:lpstr>
      <vt:lpstr>Entity Relationship Diagram </vt:lpstr>
      <vt:lpstr>Entity Relationship Diagram </vt:lpstr>
      <vt:lpstr>Entity Relationship Diagram</vt:lpstr>
      <vt:lpstr>Workflow Starter</vt:lpstr>
      <vt:lpstr>Workflow Classification </vt:lpstr>
      <vt:lpstr>Workflow Regression </vt:lpstr>
      <vt:lpstr>Workflow description</vt:lpstr>
      <vt:lpstr>Tableau Visualizations Overall data</vt:lpstr>
      <vt:lpstr>Tableau Visualizations Distribution of passengers by gender </vt:lpstr>
      <vt:lpstr>Tableau Visualizations Distribution of passengers according to class</vt:lpstr>
      <vt:lpstr>Tableau Visualizations Classwise survival rate</vt:lpstr>
      <vt:lpstr>Mongodb aggregate functions</vt:lpstr>
      <vt:lpstr>Mongodb aggregate functions </vt:lpstr>
      <vt:lpstr>Conclusion</vt:lpstr>
      <vt:lpstr>References</vt:lpstr>
      <vt:lpstr>**Thank for listening to my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Were ouma</cp:lastModifiedBy>
  <cp:revision>3</cp:revision>
  <dcterms:created xsi:type="dcterms:W3CDTF">2023-05-05T15:36:00Z</dcterms:created>
  <dcterms:modified xsi:type="dcterms:W3CDTF">2025-05-03T05:57:24Z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20DAC8392EC4462997AD6BB9979EEF86</vt:lpwstr>
  </property>
  <property fmtid="{D5CDD505-2E9C-101B-9397-08002B2CF9AE}" pid="3" name="KSOProductBuildVer">
    <vt:lpwstr>1033-12.2.0.20795</vt:lpwstr>
  </property>
</Properties>
</file>